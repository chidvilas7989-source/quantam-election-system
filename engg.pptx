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EBF9"/>
    <a:srgbClr val="0F47F9"/>
    <a:srgbClr val="30ACEC"/>
    <a:srgbClr val="128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8F18-486E-D342-BD70-6E3B7AFC5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35EFE-2F1D-093E-3FC8-E4E7F0EB2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18FC8-E385-92F7-5FB0-CEDA9103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49A05-EB7B-9429-25B3-714532CE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5662-E20F-A347-18C7-07F14C72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05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F627-AB03-AB31-D08E-1F0699DD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9061-4CBC-6DD0-D485-8788BA03A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4810D-FB3B-6295-3D05-67F7F300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24FF-251F-F650-8D10-761C94E0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72363-7487-0D89-4F09-B57E72B7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7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B63E-8FFB-3AAB-1126-FDF8972F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D1661-51B3-A9B2-5154-9133FEA3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AAE89-84CD-8989-FD31-15A61177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518CE-7769-E23C-CA54-10CE8C4C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ECE92-1A98-A3E4-C4E4-7A314498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4A8CA-83F6-2A20-2F95-45D5F898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6CA98-1C2F-479C-A702-970AC7880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113CA-EE43-5C99-E127-33BFE814B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64A2B-95AB-EA62-D2DE-FE48EE2E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273CF-70BE-2423-B5DC-AD7962B8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8E94B-C88A-FDB0-5E79-A91C00EA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6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A55B-BF8F-940C-50DC-C3C00A35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1165C-AA8A-C581-A727-FF8D76E82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1C5AC-7BB4-BEE8-EDB7-775B17524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8284A-E9A7-5740-7B7B-FA3138474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C6526-061C-683C-70B5-3327B8E91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EBE69-3FCE-FC81-2AB7-EC80D3ED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0D008-05AA-846E-8A46-6818646A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B396B-3F66-B7AD-71A5-8CCE8316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91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32C0-70B1-DC09-E3BD-FE5F1D19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FA03A-CD5F-19B8-F1B2-FBDFDD35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C8855-B492-0F70-A91B-204425FF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30398-2600-6A87-99DE-0D0DB0BB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27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E9048-E023-1ABC-7FF0-3319872F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7B70E-582C-52B8-7B8A-01BD5548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E1C42-4F1F-8827-7488-AC8BDC7E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9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590E-90C0-DB68-1D26-9981C7F7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5476-EE09-9FE4-BBF1-BFABBF41E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9B8F5-58FB-D788-DCEA-49015B52F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73ADD-8067-0C0F-123A-91FF2E59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1BC32-F788-EC46-AC6F-49351C89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64180-B115-A6AC-5F12-9685BDF6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8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CF74-F029-D59E-CA98-AE356D81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62DBC-642A-D320-AC37-F76C9C76D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EE27E-DC31-58CF-FBCE-69C44909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A5F18-32E6-6333-DD5A-42BF3BFD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21E25-872F-B7AE-6307-85F8D42F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7B16F-160F-2BBB-CB8E-2925A296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1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BE0C-AB27-7533-4DCB-7D2334D8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10205-A726-7BE2-3904-52024FC01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2CEAB-1C1B-F5CA-BEC0-D05C5556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61C75-0952-FC3D-DD06-3EB951AB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C0A5-C390-42D0-D92F-937079B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2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6EC26-D8F2-ED13-EE1C-97E673E93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EB9DC-BB44-10DE-114D-4F8E06D2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B1927-D1ED-D067-D1BB-0039E698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34398-BB1B-6BFD-D133-EA520921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31B2B-99C3-65A8-7E0E-79698184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27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B3279-99C0-8E3C-C1C6-0554E99C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D70D9-CCE9-6EE3-6366-29338C58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C1BEB-1BC4-5860-25A9-2E731E618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2F876-3CCA-4794-B9DD-A4A7F63EE505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966EA-7680-FC88-2EDA-4D6B037A0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3A252-1F4E-C949-18A6-082CE275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D4FEA-C36A-4855-8268-38423C979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43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E16C0E-5B70-9729-A232-FEE2F4C284F6}"/>
              </a:ext>
            </a:extLst>
          </p:cNvPr>
          <p:cNvSpPr txBox="1"/>
          <p:nvPr/>
        </p:nvSpPr>
        <p:spPr>
          <a:xfrm>
            <a:off x="265042" y="603555"/>
            <a:ext cx="84541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0F47F9"/>
                </a:solidFill>
                <a:latin typeface="Cooper Black" panose="0208090404030B020404" pitchFamily="18" charset="0"/>
              </a:rPr>
              <a:t>Digital voting system</a:t>
            </a:r>
            <a:endParaRPr lang="en-IN" sz="6000" b="1" i="1" dirty="0">
              <a:solidFill>
                <a:srgbClr val="0F47F9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34BF1-2EEC-9E36-16B4-A25123E584EF}"/>
              </a:ext>
            </a:extLst>
          </p:cNvPr>
          <p:cNvSpPr txBox="1"/>
          <p:nvPr/>
        </p:nvSpPr>
        <p:spPr>
          <a:xfrm>
            <a:off x="6104557" y="1447870"/>
            <a:ext cx="5229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6BEBF9"/>
                </a:solidFill>
                <a:latin typeface="Bahnschrift Condensed" panose="020B0502040204020203" pitchFamily="34" charset="0"/>
              </a:rPr>
              <a:t> Secured by Cryptographic Voting with Blockchain</a:t>
            </a:r>
            <a:endParaRPr lang="en-IN" sz="2400" dirty="0">
              <a:solidFill>
                <a:srgbClr val="6BEBF9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22B15-DA0F-B9A3-C603-A046DAD7FEA2}"/>
              </a:ext>
            </a:extLst>
          </p:cNvPr>
          <p:cNvSpPr txBox="1"/>
          <p:nvPr/>
        </p:nvSpPr>
        <p:spPr>
          <a:xfrm>
            <a:off x="9193161" y="5482305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by: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D96643-CBE2-9DAF-CCA2-B9F2C9D1B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451" y="1909535"/>
            <a:ext cx="6858000" cy="457457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8760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19F8FE-3AE9-3E37-7FB7-6EC54ED81569}"/>
              </a:ext>
            </a:extLst>
          </p:cNvPr>
          <p:cNvSpPr txBox="1"/>
          <p:nvPr/>
        </p:nvSpPr>
        <p:spPr>
          <a:xfrm>
            <a:off x="344128" y="4123718"/>
            <a:ext cx="10717161" cy="233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Define digital voting: casting and counting votes electronically to modernize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     </a:t>
            </a: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elections.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Importance of </a:t>
            </a:r>
            <a:r>
              <a:rPr lang="en-US" sz="2000" b="1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security, privacy, transparency</a:t>
            </a: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, and </a:t>
            </a:r>
            <a:r>
              <a:rPr lang="en-US" sz="2000" b="1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trust</a:t>
            </a: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 in electoral processes.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Project leverages </a:t>
            </a:r>
            <a:r>
              <a:rPr lang="en-US" sz="2000" b="1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well-established classical cryptographic algorithms</a:t>
            </a: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 (AES, RSA, SHA-256)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Bahnschrift SemiBold SemiConden" panose="020B0502040204020203" pitchFamily="34" charset="0"/>
                <a:cs typeface="Dubai Medium" panose="020B0603030403030204" pitchFamily="34" charset="-78"/>
              </a:rPr>
              <a:t> to secure votes in a practical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DA12F-0C21-090A-E48F-069D377A7DF4}"/>
              </a:ext>
            </a:extLst>
          </p:cNvPr>
          <p:cNvSpPr txBox="1"/>
          <p:nvPr/>
        </p:nvSpPr>
        <p:spPr>
          <a:xfrm>
            <a:off x="216510" y="418174"/>
            <a:ext cx="9360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Overview of digital voting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3C507-EED1-EA40-AA14-28C8B828510F}"/>
              </a:ext>
            </a:extLst>
          </p:cNvPr>
          <p:cNvSpPr txBox="1"/>
          <p:nvPr/>
        </p:nvSpPr>
        <p:spPr>
          <a:xfrm>
            <a:off x="334497" y="1232158"/>
            <a:ext cx="98519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Traditional voting is prone to </a:t>
            </a:r>
            <a:r>
              <a:rPr lang="en-US" sz="2000" b="1" dirty="0">
                <a:latin typeface="Bahnschrift SemiBold SemiConden" panose="020B0502040204020203" pitchFamily="34" charset="0"/>
              </a:rPr>
              <a:t>fraud</a:t>
            </a:r>
            <a:r>
              <a:rPr lang="en-US" sz="2000" dirty="0">
                <a:latin typeface="Bahnschrift SemiBold SemiConden" panose="020B0502040204020203" pitchFamily="34" charset="0"/>
              </a:rPr>
              <a:t>, </a:t>
            </a:r>
            <a:r>
              <a:rPr lang="en-US" sz="2000" b="1" dirty="0">
                <a:latin typeface="Bahnschrift SemiBold SemiConden" panose="020B0502040204020203" pitchFamily="34" charset="0"/>
              </a:rPr>
              <a:t>tampering</a:t>
            </a:r>
            <a:r>
              <a:rPr lang="en-US" sz="2000" dirty="0">
                <a:latin typeface="Bahnschrift SemiBold SemiConden" panose="020B0502040204020203" pitchFamily="34" charset="0"/>
              </a:rPr>
              <a:t>, and lacks auditability</a:t>
            </a:r>
          </a:p>
          <a:p>
            <a:endParaRPr lang="en-US" sz="2000" dirty="0"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Digital voting without robust security risks </a:t>
            </a:r>
            <a:r>
              <a:rPr lang="en-US" sz="2000" b="1" dirty="0">
                <a:latin typeface="Bahnschrift SemiBold SemiConden" panose="020B0502040204020203" pitchFamily="34" charset="0"/>
              </a:rPr>
              <a:t>vote manipulation</a:t>
            </a:r>
            <a:r>
              <a:rPr lang="en-US" sz="2000" dirty="0">
                <a:latin typeface="Bahnschrift SemiBold SemiConden" panose="020B0502040204020203" pitchFamily="34" charset="0"/>
              </a:rPr>
              <a:t> and </a:t>
            </a:r>
            <a:r>
              <a:rPr lang="en-US" sz="2000" b="1" dirty="0">
                <a:latin typeface="Bahnschrift SemiBold SemiConden" panose="020B0502040204020203" pitchFamily="34" charset="0"/>
              </a:rPr>
              <a:t>voter impersonation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C4D597-DBEA-1FAB-4635-F5F7C3E18BED}"/>
              </a:ext>
            </a:extLst>
          </p:cNvPr>
          <p:cNvSpPr txBox="1"/>
          <p:nvPr/>
        </p:nvSpPr>
        <p:spPr>
          <a:xfrm>
            <a:off x="-127819" y="2431974"/>
            <a:ext cx="84016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a </a:t>
            </a:r>
            <a:r>
              <a:rPr lang="en-US" sz="2000" b="1" dirty="0">
                <a:latin typeface="Bahnschrift SemiBold SemiConden" panose="020B0502040204020203" pitchFamily="34" charset="0"/>
              </a:rPr>
              <a:t>secure, deployable classical cryptographic system</a:t>
            </a:r>
            <a:r>
              <a:rPr lang="en-US" sz="2000" dirty="0">
                <a:latin typeface="Bahnschrift SemiBold SemiConden" panose="020B0502040204020203" pitchFamily="34" charset="0"/>
              </a:rPr>
              <a:t> is essential for today’s</a:t>
            </a:r>
          </a:p>
          <a:p>
            <a:pPr lvl="1"/>
            <a:r>
              <a:rPr lang="en-US" sz="2000" dirty="0">
                <a:latin typeface="Bahnschrift SemiBold SemiConden" panose="020B0502040204020203" pitchFamily="34" charset="0"/>
              </a:rPr>
              <a:t>     elections.</a:t>
            </a:r>
          </a:p>
          <a:p>
            <a:pPr algn="ctr"/>
            <a:br>
              <a:rPr lang="en-US" sz="2000" dirty="0">
                <a:latin typeface="Bahnschrift SemiBold SemiConden" panose="020B0502040204020203" pitchFamily="34" charset="0"/>
              </a:rPr>
            </a:br>
            <a:endParaRPr lang="en-IN" sz="2000" dirty="0">
              <a:latin typeface="Bahnschrift SemiBold SemiConden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5F2CB-5E90-A9EC-2891-E83CC2B8DEFA}"/>
              </a:ext>
            </a:extLst>
          </p:cNvPr>
          <p:cNvSpPr txBox="1"/>
          <p:nvPr/>
        </p:nvSpPr>
        <p:spPr>
          <a:xfrm>
            <a:off x="344128" y="3416346"/>
            <a:ext cx="5600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CONCEPTUAL OBJECTIVES</a:t>
            </a:r>
            <a:endParaRPr lang="en-IN" sz="2800" b="1" dirty="0">
              <a:solidFill>
                <a:srgbClr val="30AC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81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832332-9CAC-B98B-6500-96E165CE9325}"/>
              </a:ext>
            </a:extLst>
          </p:cNvPr>
          <p:cNvSpPr txBox="1"/>
          <p:nvPr/>
        </p:nvSpPr>
        <p:spPr>
          <a:xfrm>
            <a:off x="217985" y="1146456"/>
            <a:ext cx="9930581" cy="2113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Implement a secure voting system using </a:t>
            </a:r>
            <a:r>
              <a:rPr lang="en-US" b="1" dirty="0">
                <a:latin typeface="Bahnschrift SemiBold SemiConden" panose="020B0502040204020203" pitchFamily="34" charset="0"/>
              </a:rPr>
              <a:t>classical cryptography</a:t>
            </a:r>
            <a:r>
              <a:rPr lang="en-US" dirty="0">
                <a:latin typeface="Bahnschrift SemiBold SemiConden" panose="020B0502040204020203" pitchFamily="34" charset="0"/>
              </a:rPr>
              <a:t> only.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Record votes immutably using </a:t>
            </a:r>
            <a:r>
              <a:rPr lang="en-US" b="1" dirty="0">
                <a:latin typeface="Bahnschrift SemiBold SemiConden" panose="020B0502040204020203" pitchFamily="34" charset="0"/>
              </a:rPr>
              <a:t>blockchain technology</a:t>
            </a:r>
            <a:r>
              <a:rPr lang="en-US" dirty="0">
                <a:latin typeface="Bahnschrift SemiBold SemiConden" panose="020B0502040204020203" pitchFamily="34" charset="0"/>
              </a:rPr>
              <a:t> for transparency and audit.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Provide </a:t>
            </a:r>
            <a:r>
              <a:rPr lang="en-US" b="1" dirty="0">
                <a:latin typeface="Bahnschrift SemiBold SemiConden" panose="020B0502040204020203" pitchFamily="34" charset="0"/>
              </a:rPr>
              <a:t>voter authentication</a:t>
            </a:r>
            <a:r>
              <a:rPr lang="en-US" dirty="0">
                <a:latin typeface="Bahnschrift SemiBold SemiConden" panose="020B0502040204020203" pitchFamily="34" charset="0"/>
              </a:rPr>
              <a:t> via biometric verification combined with digital cryptography.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Make the system compatible with </a:t>
            </a:r>
            <a:r>
              <a:rPr lang="en-US" b="1" dirty="0">
                <a:latin typeface="Bahnschrift SemiBold SemiConden" panose="020B0502040204020203" pitchFamily="34" charset="0"/>
              </a:rPr>
              <a:t>standard hardware/software</a:t>
            </a:r>
            <a:r>
              <a:rPr lang="en-US" dirty="0">
                <a:latin typeface="Bahnschrift SemiBold SemiConden" panose="020B0502040204020203" pitchFamily="34" charset="0"/>
              </a:rPr>
              <a:t> for ease of deployment.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1C5104-5346-9AB6-1FA0-32685E500251}"/>
              </a:ext>
            </a:extLst>
          </p:cNvPr>
          <p:cNvSpPr txBox="1"/>
          <p:nvPr/>
        </p:nvSpPr>
        <p:spPr>
          <a:xfrm>
            <a:off x="217985" y="3129465"/>
            <a:ext cx="7452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1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  <a:ea typeface="Segoe UI Black" panose="020B0A02040204020203" pitchFamily="34" charset="0"/>
              </a:rPr>
              <a:t>Classical Cryptographic Techniques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1914D-8265-E7FF-CAEA-535271293185}"/>
              </a:ext>
            </a:extLst>
          </p:cNvPr>
          <p:cNvSpPr txBox="1"/>
          <p:nvPr/>
        </p:nvSpPr>
        <p:spPr>
          <a:xfrm>
            <a:off x="217985" y="3843886"/>
            <a:ext cx="10630832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SemiBold SemiConden" panose="020B0502040204020203" pitchFamily="34" charset="0"/>
              </a:rPr>
              <a:t>AES-256-CBC</a:t>
            </a:r>
            <a:r>
              <a:rPr lang="en-IN" dirty="0">
                <a:latin typeface="Bahnschrift SemiBold SemiConden" panose="020B0502040204020203" pitchFamily="34" charset="0"/>
              </a:rPr>
              <a:t>: Symmetric encryption algorithm offering confidentiality by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Bahnschrift SemiBold SemiConden" panose="020B0502040204020203" pitchFamily="34" charset="0"/>
              </a:rPr>
              <a:t>      encrypting vote data with a 256-bit key and random IV (initialization vector).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SemiBold SemiConden" panose="020B0502040204020203" pitchFamily="34" charset="0"/>
              </a:rPr>
              <a:t>RSA-204</a:t>
            </a:r>
            <a:r>
              <a:rPr lang="en-IN" dirty="0">
                <a:latin typeface="Bahnschrift SemiBold SemiConden" panose="020B0502040204020203" pitchFamily="34" charset="0"/>
              </a:rPr>
              <a:t>: Asymmetric cryptography used for secure key exchange and creating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Bahnschrift SemiBold SemiConden" panose="020B0502040204020203" pitchFamily="34" charset="0"/>
              </a:rPr>
              <a:t>     </a:t>
            </a:r>
            <a:r>
              <a:rPr lang="en-IN" b="1" dirty="0">
                <a:latin typeface="Bahnschrift SemiBold SemiConden" panose="020B0502040204020203" pitchFamily="34" charset="0"/>
              </a:rPr>
              <a:t>digital signatures</a:t>
            </a:r>
            <a:r>
              <a:rPr lang="en-IN" dirty="0">
                <a:latin typeface="Bahnschrift SemiBold SemiConden" panose="020B0502040204020203" pitchFamily="34" charset="0"/>
              </a:rPr>
              <a:t> to guarantee vote authenticity and non-repudiation.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SemiBold SemiConden" panose="020B0502040204020203" pitchFamily="34" charset="0"/>
              </a:rPr>
              <a:t>SHA-256</a:t>
            </a:r>
            <a:r>
              <a:rPr lang="en-IN" dirty="0">
                <a:latin typeface="Bahnschrift SemiBold SemiConden" panose="020B0502040204020203" pitchFamily="34" charset="0"/>
              </a:rPr>
              <a:t>: Secure hash function ensures vote and blockchain data integrity.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Explain </a:t>
            </a:r>
            <a:r>
              <a:rPr lang="en-IN" b="1" dirty="0">
                <a:latin typeface="Bahnschrift SemiBold SemiConden" panose="020B0502040204020203" pitchFamily="34" charset="0"/>
              </a:rPr>
              <a:t>key generation</a:t>
            </a:r>
            <a:r>
              <a:rPr lang="en-IN" dirty="0">
                <a:latin typeface="Bahnschrift SemiBold SemiConden" panose="020B0502040204020203" pitchFamily="34" charset="0"/>
              </a:rPr>
              <a:t> via CSPRNG and HMAC to ensure randomness and security of cryptographic keys.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9F9E0-BE27-79D8-AA4C-CDB5BB05960B}"/>
              </a:ext>
            </a:extLst>
          </p:cNvPr>
          <p:cNvSpPr txBox="1"/>
          <p:nvPr/>
        </p:nvSpPr>
        <p:spPr>
          <a:xfrm>
            <a:off x="217985" y="536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CONCEPTUAL OBJECTIVES</a:t>
            </a:r>
            <a:endParaRPr lang="en-IN" sz="2800" dirty="0">
              <a:solidFill>
                <a:srgbClr val="30AC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69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9D16A-AB4F-1885-13CD-702C5A45515C}"/>
              </a:ext>
            </a:extLst>
          </p:cNvPr>
          <p:cNvSpPr txBox="1"/>
          <p:nvPr/>
        </p:nvSpPr>
        <p:spPr>
          <a:xfrm>
            <a:off x="147833" y="813907"/>
            <a:ext cx="10382864" cy="2134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Modular architecture separates concerns: user interfaces (admin and voter), 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     backend API, cryptographic layers, blockchain ledger, data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Flask backend coordinates voter registration, voting processing, encryption,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      and result tallying.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Blockchain stores vote hashes immutably to prevent tampering.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JSON-based data store manages voter info, parties, officers, and sessions.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0B229-0AD5-DE3F-27D8-ABF0F8BCCC1B}"/>
              </a:ext>
            </a:extLst>
          </p:cNvPr>
          <p:cNvSpPr txBox="1"/>
          <p:nvPr/>
        </p:nvSpPr>
        <p:spPr>
          <a:xfrm>
            <a:off x="267260" y="236795"/>
            <a:ext cx="4218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System Architecture</a:t>
            </a:r>
          </a:p>
          <a:p>
            <a:endParaRPr lang="en-IN" sz="2800" dirty="0">
              <a:solidFill>
                <a:srgbClr val="30AC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52DAA-EE43-30DD-229F-DDA3A9F36E43}"/>
              </a:ext>
            </a:extLst>
          </p:cNvPr>
          <p:cNvSpPr txBox="1"/>
          <p:nvPr/>
        </p:nvSpPr>
        <p:spPr>
          <a:xfrm>
            <a:off x="147833" y="3220211"/>
            <a:ext cx="41191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Vote Casting Workflow</a:t>
            </a:r>
          </a:p>
          <a:p>
            <a:endParaRPr lang="en-IN" sz="2800" dirty="0">
              <a:solidFill>
                <a:srgbClr val="30AC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37E9D-56F2-B853-36D3-FD6CC4AE2101}"/>
              </a:ext>
            </a:extLst>
          </p:cNvPr>
          <p:cNvSpPr txBox="1"/>
          <p:nvPr/>
        </p:nvSpPr>
        <p:spPr>
          <a:xfrm>
            <a:off x="147833" y="3794192"/>
            <a:ext cx="9246101" cy="304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Voter registers with biometric verification and credentials.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Session tokens manage active users securely.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Votes serialized to JSON ensure data consistency.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AES-256 encrypts each vote with unique symmetric key.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RSA digital signature authenticates the encrypted vote, 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Bahnschrift SemiBold SemiConden" panose="020B0502040204020203" pitchFamily="34" charset="0"/>
              </a:rPr>
              <a:t>      preventing forgery.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Encrypted votes and signatures stored on blockchain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Bahnschrift SemiBold SemiConden" panose="020B0502040204020203" pitchFamily="34" charset="0"/>
              </a:rPr>
              <a:t>      for integrity and audit.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FA60D7B-B3D1-0883-B7A8-C28B2670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903" y="-232884"/>
            <a:ext cx="5211097" cy="709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17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B3A6C2-DC7A-1658-6774-A117971761A0}"/>
              </a:ext>
            </a:extLst>
          </p:cNvPr>
          <p:cNvSpPr txBox="1"/>
          <p:nvPr/>
        </p:nvSpPr>
        <p:spPr>
          <a:xfrm>
            <a:off x="195241" y="186472"/>
            <a:ext cx="6685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 Semib" pitchFamily="2" charset="0"/>
              </a:rPr>
              <a:t>Blockchain for Vote Integrity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8F1F8-58C0-27A4-0E7B-B99EB4326CE2}"/>
              </a:ext>
            </a:extLst>
          </p:cNvPr>
          <p:cNvSpPr txBox="1"/>
          <p:nvPr/>
        </p:nvSpPr>
        <p:spPr>
          <a:xfrm>
            <a:off x="195241" y="713064"/>
            <a:ext cx="9007753" cy="27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Blockchain: sequence of blocks, each containing hashed data and reference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Bold SemiConden" panose="020B0502040204020203" pitchFamily="34" charset="0"/>
              </a:rPr>
              <a:t>     to previous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block’s hash, ensuring immutability.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Mining with proof-of-work (nonce) secures blocks against tampering.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Blockchain validation confirms chain integrity, providing transparent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Bold SemiConden" panose="020B0502040204020203" pitchFamily="34" charset="0"/>
              </a:rPr>
              <a:t>     auditability of votes.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SemiBold SemiConden" panose="020B0502040204020203" pitchFamily="34" charset="0"/>
              </a:rPr>
              <a:t>Enables public/verifiable trust without centralized control.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1D4B36-DC03-9220-31F7-A7FBFD74E71D}"/>
              </a:ext>
            </a:extLst>
          </p:cNvPr>
          <p:cNvSpPr txBox="1"/>
          <p:nvPr/>
        </p:nvSpPr>
        <p:spPr>
          <a:xfrm>
            <a:off x="195241" y="3667131"/>
            <a:ext cx="38197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30AC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 Security Features</a:t>
            </a:r>
          </a:p>
          <a:p>
            <a:endParaRPr lang="en-IN" sz="4000" dirty="0">
              <a:solidFill>
                <a:srgbClr val="30AC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5B191-9980-209C-38C1-12B0D06D2FA0}"/>
              </a:ext>
            </a:extLst>
          </p:cNvPr>
          <p:cNvSpPr txBox="1"/>
          <p:nvPr/>
        </p:nvSpPr>
        <p:spPr>
          <a:xfrm>
            <a:off x="195241" y="4599031"/>
            <a:ext cx="7563289" cy="2051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End-to-end encryption protects vote confidentiality.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Digital signatures ensure only authorized voters’ encrypted votes are accepted.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Blockchain prevents retroactive vote modifications.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Randomly generated AES keys and secure key exchange thwart cryptanalysis.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Biometric verification adds authentication layer beyond cryptography.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2F6D025-5BCA-B4B8-4863-A2994FFCD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954" y="207830"/>
            <a:ext cx="6017342" cy="541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98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68349D-00EF-B091-286C-4F2E632C9A1A}"/>
              </a:ext>
            </a:extLst>
          </p:cNvPr>
          <p:cNvSpPr txBox="1"/>
          <p:nvPr/>
        </p:nvSpPr>
        <p:spPr>
          <a:xfrm>
            <a:off x="1347018" y="444598"/>
            <a:ext cx="70300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solidFill>
                  <a:srgbClr val="30ACEC"/>
                </a:solidFill>
                <a:effectLst/>
                <a:latin typeface="Sitka Small Semibold" pitchFamily="2" charset="0"/>
              </a:rPr>
              <a:t> Deployment and 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7F367-81A5-7C8A-FCBB-52C79E27D64D}"/>
              </a:ext>
            </a:extLst>
          </p:cNvPr>
          <p:cNvSpPr txBox="1"/>
          <p:nvPr/>
        </p:nvSpPr>
        <p:spPr>
          <a:xfrm>
            <a:off x="1347018" y="1111045"/>
            <a:ext cx="7585731" cy="211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Developed with Python 3 and Flask: lightweight, scalable backend.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Libraries: </a:t>
            </a:r>
            <a:r>
              <a:rPr lang="en-IN" dirty="0" err="1">
                <a:latin typeface="Bahnschrift SemiBold SemiConden" panose="020B0502040204020203" pitchFamily="34" charset="0"/>
              </a:rPr>
              <a:t>pycryptodome</a:t>
            </a:r>
            <a:r>
              <a:rPr lang="en-IN" dirty="0">
                <a:latin typeface="Bahnschrift SemiBold SemiConden" panose="020B0502040204020203" pitchFamily="34" charset="0"/>
              </a:rPr>
              <a:t> for AES, cryptography for RSA and hashing.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JSON files provide simple persistent storage for easy maintenance.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Bahnschrift SemiBold SemiConden" panose="020B0502040204020203" pitchFamily="34" charset="0"/>
              </a:rPr>
              <a:t>System runs on common hardware without specialized quantum infrastructure.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57E76-3369-EE6B-66F9-DB69BFA03915}"/>
              </a:ext>
            </a:extLst>
          </p:cNvPr>
          <p:cNvSpPr txBox="1"/>
          <p:nvPr/>
        </p:nvSpPr>
        <p:spPr>
          <a:xfrm>
            <a:off x="1347018" y="3224509"/>
            <a:ext cx="36776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30ACEC"/>
                </a:solidFill>
                <a:latin typeface="Bahnschrift SemiBold SemiConden" panose="020B0502040204020203" pitchFamily="34" charset="0"/>
              </a:rPr>
              <a:t>Future Enhancements</a:t>
            </a:r>
          </a:p>
          <a:p>
            <a:endParaRPr lang="en-IN" sz="3200" dirty="0">
              <a:solidFill>
                <a:srgbClr val="30ACEC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95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37696B-3FED-9F3A-7416-2BB83E4C321B}"/>
              </a:ext>
            </a:extLst>
          </p:cNvPr>
          <p:cNvSpPr txBox="1"/>
          <p:nvPr/>
        </p:nvSpPr>
        <p:spPr>
          <a:xfrm>
            <a:off x="1632156" y="599768"/>
            <a:ext cx="3276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30ACEC"/>
                </a:solidFill>
                <a:latin typeface="Arial Black" panose="020B0A04020102020204" pitchFamily="34" charset="0"/>
              </a:rPr>
              <a:t>Conclusion :</a:t>
            </a:r>
          </a:p>
          <a:p>
            <a:endParaRPr lang="en-IN" sz="3600" dirty="0">
              <a:solidFill>
                <a:srgbClr val="30ACEC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45587-8671-7033-F7E2-65F964DC9B0A}"/>
              </a:ext>
            </a:extLst>
          </p:cNvPr>
          <p:cNvSpPr txBox="1"/>
          <p:nvPr/>
        </p:nvSpPr>
        <p:spPr>
          <a:xfrm>
            <a:off x="1297858" y="1490008"/>
            <a:ext cx="103435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Classical cryptographic algorithms combined with blockchain offer </a:t>
            </a:r>
            <a:r>
              <a:rPr lang="en-US" sz="2000" b="1" dirty="0">
                <a:latin typeface="Bahnschrift SemiBold SemiConden" panose="020B0502040204020203" pitchFamily="34" charset="0"/>
              </a:rPr>
              <a:t>strong, practical security</a:t>
            </a:r>
            <a:r>
              <a:rPr lang="en-US" sz="2000" dirty="0">
                <a:latin typeface="Bahnschrift SemiBold SemiConden" panose="020B0502040204020203" pitchFamily="34" charset="0"/>
              </a:rPr>
              <a:t> for digital elections today.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System ensures </a:t>
            </a:r>
            <a:r>
              <a:rPr lang="en-US" sz="2000" b="1" dirty="0">
                <a:latin typeface="Bahnschrift SemiBold SemiConden" panose="020B0502040204020203" pitchFamily="34" charset="0"/>
              </a:rPr>
              <a:t>vote confidentiality, integrity, and auditability</a:t>
            </a:r>
            <a:r>
              <a:rPr lang="en-US" sz="2000" dirty="0">
                <a:latin typeface="Bahnschrift SemiBold SemiConden" panose="020B0502040204020203" pitchFamily="34" charset="0"/>
              </a:rPr>
              <a:t> without relying on emerging quantum technologies.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Bold SemiConden" panose="020B0502040204020203" pitchFamily="34" charset="0"/>
              </a:rPr>
              <a:t>A viable approach to modernize democratic processes with technology that is deployable and secure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82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A9722A-AC79-4366-899C-2CE06D0D07C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559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Arial Black</vt:lpstr>
      <vt:lpstr>Arial Rounded MT Bold</vt:lpstr>
      <vt:lpstr>Bahnschrift Condensed</vt:lpstr>
      <vt:lpstr>Bahnschrift SemiBold SemiConden</vt:lpstr>
      <vt:lpstr>Calibri</vt:lpstr>
      <vt:lpstr>Calibri Light</vt:lpstr>
      <vt:lpstr>Cooper Black</vt:lpstr>
      <vt:lpstr>Segoe UI Variable Display Semib</vt:lpstr>
      <vt:lpstr>Sitka Small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Chidvilas Bhagavan</dc:creator>
  <cp:lastModifiedBy>Chidvilas Bhagavan</cp:lastModifiedBy>
  <cp:revision>1</cp:revision>
  <dcterms:created xsi:type="dcterms:W3CDTF">2025-09-11T15:44:14Z</dcterms:created>
  <dcterms:modified xsi:type="dcterms:W3CDTF">2025-09-11T18:04:33Z</dcterms:modified>
</cp:coreProperties>
</file>